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42" r:id="rId7"/>
    <p:sldId id="329" r:id="rId8"/>
    <p:sldId id="302" r:id="rId9"/>
    <p:sldId id="339" r:id="rId10"/>
    <p:sldId id="340" r:id="rId11"/>
    <p:sldId id="343" r:id="rId12"/>
    <p:sldId id="345" r:id="rId13"/>
    <p:sldId id="341" r:id="rId14"/>
    <p:sldId id="346" r:id="rId15"/>
    <p:sldId id="347" r:id="rId16"/>
    <p:sldId id="34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296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PINKI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Market Analysis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312871" y="3256384"/>
            <a:ext cx="4375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STU ID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STU662f4bad170001714375597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used-car market contains vehicles with different prices, fuel types, transmission types, and usage levels.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It is difficult to understand which factors have the greatest impact on a car’s selling price.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Buyers and sellers need data-driven insights to evaluate a vehicle’s fair market value.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This project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Car Dekho data to identify important market trends and pricing patterns.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goal is to provide meaningful insights that can support better buying, selling, and pricing decisions.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4AED-073F-E420-A8AC-5B32ED6D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BFCE37-7202-DFEF-2254-BF0F7A8B00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6249" y="1933019"/>
            <a:ext cx="7904481" cy="313068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 Dekho used-car data using data analysis and visualization techniques. The dataset contains information such as car name, manufacturing year, selling price, present price,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kilometers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driven, fuel type, seller type, transmission, and number of previous owners. The analysis explores relationships between these variables and identifies the major factors influencing used-car prices. The project can help stakeholders understand market trends and make informed decisions.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782E35-BAA7-434F-C3B3-41D5BCE3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0D7F5-156C-38D9-B7FE-F8B07531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8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ounded Rectangle 16">
            <a:extLst>
              <a:ext uri="{FF2B5EF4-FFF2-40B4-BE49-F238E27FC236}">
                <a16:creationId xmlns:a16="http://schemas.microsoft.com/office/drawing/2014/main" id="{F440A827-81CF-7A59-9302-ECF593F20D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2212860"/>
            <a:ext cx="4118695" cy="970472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sz="1500" b="1" dirty="0">
                <a:solidFill>
                  <a:srgbClr val="1F375C"/>
                </a:solidFill>
              </a:rPr>
              <a:t>🚗 Car Buyers</a:t>
            </a:r>
          </a:p>
          <a:p>
            <a:pPr marL="0" indent="0">
              <a:spcBef>
                <a:spcPts val="600"/>
              </a:spcBef>
              <a:buNone/>
              <a:defRPr sz="1100">
                <a:solidFill>
                  <a:srgbClr val="1F1F1F"/>
                </a:solidFill>
              </a:defRPr>
            </a:pPr>
            <a:r>
              <a:rPr dirty="0"/>
              <a:t>Compare vehicles and identify reasonable market prices.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86ED14DD-C9C7-8ED6-4EAB-64F65B3D12A0}"/>
              </a:ext>
            </a:extLst>
          </p:cNvPr>
          <p:cNvSpPr/>
          <p:nvPr/>
        </p:nvSpPr>
        <p:spPr>
          <a:xfrm>
            <a:off x="4870472" y="2212860"/>
            <a:ext cx="4118695" cy="970472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💰 Car Sellers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Estimate competitive selling prices using historical patterns.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CF20D206-EF3B-37DA-C9DD-27F9A9EADD5A}"/>
              </a:ext>
            </a:extLst>
          </p:cNvPr>
          <p:cNvSpPr/>
          <p:nvPr/>
        </p:nvSpPr>
        <p:spPr>
          <a:xfrm>
            <a:off x="620008" y="3422899"/>
            <a:ext cx="4118695" cy="970472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🏪 Car Dealers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Understand demand and pricing trends for inventory planning.</a:t>
            </a:r>
          </a:p>
        </p:txBody>
      </p:sp>
      <p:sp>
        <p:nvSpPr>
          <p:cNvPr id="12" name="Rounded Rectangle 19">
            <a:extLst>
              <a:ext uri="{FF2B5EF4-FFF2-40B4-BE49-F238E27FC236}">
                <a16:creationId xmlns:a16="http://schemas.microsoft.com/office/drawing/2014/main" id="{A9576D3E-5FFC-F5C4-FCB9-1658902DFB0E}"/>
              </a:ext>
            </a:extLst>
          </p:cNvPr>
          <p:cNvSpPr/>
          <p:nvPr/>
        </p:nvSpPr>
        <p:spPr>
          <a:xfrm>
            <a:off x="4870473" y="3435101"/>
            <a:ext cx="4118695" cy="970472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📊 Data Analysts / Business Teams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Explore automobile market trends and derive actionable insights.</a:t>
            </a:r>
          </a:p>
        </p:txBody>
      </p:sp>
      <p:sp>
        <p:nvSpPr>
          <p:cNvPr id="14" name="Rounded Rectangle 20">
            <a:extLst>
              <a:ext uri="{FF2B5EF4-FFF2-40B4-BE49-F238E27FC236}">
                <a16:creationId xmlns:a16="http://schemas.microsoft.com/office/drawing/2014/main" id="{08908C38-65B0-5635-CB6C-80F2D216622F}"/>
              </a:ext>
            </a:extLst>
          </p:cNvPr>
          <p:cNvSpPr/>
          <p:nvPr/>
        </p:nvSpPr>
        <p:spPr>
          <a:xfrm>
            <a:off x="2811125" y="4546489"/>
            <a:ext cx="4118695" cy="998062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🚘 Used-Car Businesses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Support pricing and inventory decisions with data.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Rounded Rectangle 16">
            <a:extLst>
              <a:ext uri="{FF2B5EF4-FFF2-40B4-BE49-F238E27FC236}">
                <a16:creationId xmlns:a16="http://schemas.microsoft.com/office/drawing/2014/main" id="{55A80F7B-4696-2211-F239-862ACA22B5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036" y="1431927"/>
            <a:ext cx="3831854" cy="847817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sz="1500" b="1" dirty="0">
                <a:solidFill>
                  <a:srgbClr val="1F375C"/>
                </a:solidFill>
              </a:rPr>
              <a:t>Python</a:t>
            </a:r>
          </a:p>
          <a:p>
            <a:pPr marL="0" indent="0">
              <a:spcBef>
                <a:spcPts val="600"/>
              </a:spcBef>
              <a:buNone/>
              <a:defRPr sz="1100">
                <a:solidFill>
                  <a:srgbClr val="1F1F1F"/>
                </a:solidFill>
              </a:defRPr>
            </a:pPr>
            <a:r>
              <a:rPr dirty="0"/>
              <a:t>Core language used for data loading, analysis, and visualization.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1C754631-89B6-08FA-5D6A-026EDABA5D3C}"/>
              </a:ext>
            </a:extLst>
          </p:cNvPr>
          <p:cNvSpPr/>
          <p:nvPr/>
        </p:nvSpPr>
        <p:spPr>
          <a:xfrm>
            <a:off x="5053354" y="1431927"/>
            <a:ext cx="3749039" cy="847817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Pandas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Data cleaning, transformation, grouping, and statistical analysis.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30F97CFC-F330-9492-E86D-062FD22DF4C8}"/>
              </a:ext>
            </a:extLst>
          </p:cNvPr>
          <p:cNvSpPr/>
          <p:nvPr/>
        </p:nvSpPr>
        <p:spPr>
          <a:xfrm>
            <a:off x="835036" y="2581183"/>
            <a:ext cx="3749039" cy="847817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NumPy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Numerical operations and supporting analytical calculations.</a:t>
            </a:r>
          </a:p>
        </p:txBody>
      </p:sp>
      <p:sp>
        <p:nvSpPr>
          <p:cNvPr id="13" name="Rounded Rectangle 19">
            <a:extLst>
              <a:ext uri="{FF2B5EF4-FFF2-40B4-BE49-F238E27FC236}">
                <a16:creationId xmlns:a16="http://schemas.microsoft.com/office/drawing/2014/main" id="{516074EC-BEA5-F88C-5724-4FCA93655197}"/>
              </a:ext>
            </a:extLst>
          </p:cNvPr>
          <p:cNvSpPr/>
          <p:nvPr/>
        </p:nvSpPr>
        <p:spPr>
          <a:xfrm>
            <a:off x="5053354" y="2581183"/>
            <a:ext cx="3749039" cy="847817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Matplotlib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Creation of analytical charts and trend visualizations.</a:t>
            </a:r>
          </a:p>
        </p:txBody>
      </p:sp>
      <p:sp>
        <p:nvSpPr>
          <p:cNvPr id="15" name="Rounded Rectangle 20">
            <a:extLst>
              <a:ext uri="{FF2B5EF4-FFF2-40B4-BE49-F238E27FC236}">
                <a16:creationId xmlns:a16="http://schemas.microsoft.com/office/drawing/2014/main" id="{A6235792-8FF3-31C4-3F14-BC04627870C6}"/>
              </a:ext>
            </a:extLst>
          </p:cNvPr>
          <p:cNvSpPr/>
          <p:nvPr/>
        </p:nvSpPr>
        <p:spPr>
          <a:xfrm>
            <a:off x="3313544" y="3820160"/>
            <a:ext cx="3749039" cy="847817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C"/>
                </a:solidFill>
              </a:rPr>
              <a:t>Seaborn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t>Statistical plots and relationship analysis.</a:t>
            </a:r>
          </a:p>
        </p:txBody>
      </p:sp>
      <p:sp>
        <p:nvSpPr>
          <p:cNvPr id="17" name="Rounded Rectangle 21">
            <a:extLst>
              <a:ext uri="{FF2B5EF4-FFF2-40B4-BE49-F238E27FC236}">
                <a16:creationId xmlns:a16="http://schemas.microsoft.com/office/drawing/2014/main" id="{02F61B0D-2336-0F29-5DF2-41A197618048}"/>
              </a:ext>
            </a:extLst>
          </p:cNvPr>
          <p:cNvSpPr/>
          <p:nvPr/>
        </p:nvSpPr>
        <p:spPr>
          <a:xfrm>
            <a:off x="3313543" y="5002164"/>
            <a:ext cx="3749039" cy="847817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F375C"/>
                </a:solidFill>
              </a:rPr>
              <a:t>Jupyter / VS Code</a:t>
            </a:r>
          </a:p>
          <a:p>
            <a:pPr>
              <a:spcBef>
                <a:spcPts val="600"/>
              </a:spcBef>
              <a:defRPr sz="1100">
                <a:solidFill>
                  <a:srgbClr val="1F1F1F"/>
                </a:solidFill>
              </a:defRPr>
            </a:pPr>
            <a:r>
              <a:rPr dirty="0"/>
              <a:t>Development and execution environment for the analysis.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2981643" cy="666078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20360"/>
            <a:ext cx="4668035" cy="4906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2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endParaRPr lang="en-IN" sz="2200" b="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8921" y="5246783"/>
            <a:ext cx="10910119" cy="490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Diesel cars generally command higher average selling prices than Petrol and CNG cars in the dataset.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162802-AA0E-CA1A-6459-50FFCAAA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4" y="1251371"/>
            <a:ext cx="4668035" cy="3665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15F8AC-003C-BFF5-FBF2-F8C419B03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739" y="1251372"/>
            <a:ext cx="4313265" cy="36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2981643" cy="537544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4614867" cy="585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4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endParaRPr lang="en-IN" sz="1400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7451" y="4987841"/>
            <a:ext cx="8789628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cars have a higher average selling price than Manual cars, indicating greater resale value for automatic vehicles.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4B6CA5-2816-7833-A849-2F0700FB6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17" y="1137349"/>
            <a:ext cx="4712230" cy="35667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088F49-14BD-01D6-6B77-97806280F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524" y="1093029"/>
            <a:ext cx="4150831" cy="356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FBAF-5960-1C20-2C88-ED302C08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CB6FEB-19CE-12C0-4AF1-5CCA5FB1A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9379476-DD54-79DB-98FA-15C9D36EF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673207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B22D275-7BC3-2DCB-5096-83E02D9D8DE9}"/>
              </a:ext>
            </a:extLst>
          </p:cNvPr>
          <p:cNvSpPr txBox="1">
            <a:spLocks/>
          </p:cNvSpPr>
          <p:nvPr/>
        </p:nvSpPr>
        <p:spPr>
          <a:xfrm>
            <a:off x="675957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9A3CD6E-E488-522A-6F7F-9314836F567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1C38AC6-F97D-48FB-C260-6505443F0EB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4623494" cy="4775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400" dirty="0"/>
              <a:t> </a:t>
            </a:r>
            <a:r>
              <a:rPr lang="en-GB" sz="14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endParaRPr lang="en-IN" sz="1400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B8A66A9-9F63-B4C9-77C9-1801369C61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80" y="5131445"/>
            <a:ext cx="10070745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 Cruiser and Fortuner are among the highest-priced repeatedly listed models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EE5CD0-B209-0F6E-182D-6D895D704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5016" y="1043796"/>
            <a:ext cx="5450984" cy="3795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495E66-A566-04CC-1061-C00ABE62B4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6625" y="1043795"/>
            <a:ext cx="4463814" cy="379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2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B31AB-2B87-AEE1-FAF8-A8EB4CC7F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61A7FE-8132-2792-FEA6-1430CDBB0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2202F79-8612-7C23-E1A1-61F32B85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586943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9091B03-C9E2-6E29-D934-75E9D70F6F0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5658984-003E-DBFD-DFC4-E6CA6F56DE2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C88B838-A33A-8B39-A6E4-A186C78F92C7}"/>
              </a:ext>
            </a:extLst>
          </p:cNvPr>
          <p:cNvSpPr txBox="1">
            <a:spLocks/>
          </p:cNvSpPr>
          <p:nvPr/>
        </p:nvSpPr>
        <p:spPr>
          <a:xfrm>
            <a:off x="422959" y="5737444"/>
            <a:ext cx="5673041" cy="5684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400" dirty="0"/>
              <a:t> </a:t>
            </a:r>
            <a:r>
              <a:rPr lang="en-GB" sz="14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endParaRPr lang="en-IN" sz="1400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86BFE7D-F2DA-C437-EB0B-0A12D23219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099" y="5050637"/>
            <a:ext cx="9305761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Dealer car have higher average selling price than individual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930B0C-3DDE-D546-9FD1-A205E3DB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099" y="1104180"/>
            <a:ext cx="5584901" cy="3424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BB1CDF-EC30-BBC7-A0F4-BAE1042B6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182" y="1035149"/>
            <a:ext cx="4010947" cy="349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3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586943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8EDA220-A275-5502-87A0-957B48A3A70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5192837" cy="3700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400" dirty="0"/>
              <a:t> </a:t>
            </a:r>
            <a:r>
              <a:rPr lang="en-GB" sz="14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endParaRPr lang="en-IN" sz="1400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FB62D69-D3C1-33D1-D4B8-FA0DCE570A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9597" y="5051018"/>
            <a:ext cx="9305761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price shows a strong positive relationship with selling price, meaning higher-priced cars generally have higher resale values.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81D0EC-8F0C-327B-9F68-3C2C65085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521" y="1329462"/>
            <a:ext cx="4636868" cy="31426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533FBB-A921-7426-0DDF-61ADB82F40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17474" y="1329462"/>
            <a:ext cx="4089654" cy="314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B88B-B43A-C55B-9C02-C7132E5D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D97F6-1FF1-72C5-320E-97071E73FD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605DB08-B2E1-1C99-80F7-9A36B6AC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586943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4AD178F-7934-AB6B-F91A-69BF47EC754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7AD012B-7720-8DC9-D5D8-6AB33A4CDB4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440ED16-501E-109C-2898-498F9B823CAD}"/>
              </a:ext>
            </a:extLst>
          </p:cNvPr>
          <p:cNvSpPr txBox="1">
            <a:spLocks/>
          </p:cNvSpPr>
          <p:nvPr/>
        </p:nvSpPr>
        <p:spPr>
          <a:xfrm>
            <a:off x="422959" y="5523232"/>
            <a:ext cx="5408498" cy="483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400" dirty="0"/>
              <a:t> </a:t>
            </a:r>
            <a:r>
              <a:rPr lang="en-GB" sz="14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endParaRPr lang="en-IN" sz="1400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70FEC27-A62F-5953-F156-F58061D661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3585" y="4753525"/>
            <a:ext cx="9305761" cy="666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/>
              <a:t>Newer cars generally have higher average selling prices, while older vehicles tend to have lower resale values.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348D4C-F145-BCA0-01A3-81ACC17E8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1070" y="1329462"/>
            <a:ext cx="4560057" cy="29923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1E48FA-163C-12DE-0075-31B41C0523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03058" y="1334768"/>
            <a:ext cx="4991772" cy="283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2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0C6EB-B8B0-E150-6AE8-DE7E469D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3389CF-D1E5-09FE-5481-ECF4E53DBC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3CA167-40F5-3836-2E64-CEF22381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586943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9275CA6-6207-2444-7F6C-825CF4B25B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8CD99ED-BC4B-9392-01D9-E40CC504D70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8E41E0E-EEB4-52A8-8D91-0549D96C3DA3}"/>
              </a:ext>
            </a:extLst>
          </p:cNvPr>
          <p:cNvSpPr txBox="1">
            <a:spLocks/>
          </p:cNvSpPr>
          <p:nvPr/>
        </p:nvSpPr>
        <p:spPr>
          <a:xfrm>
            <a:off x="422959" y="5737444"/>
            <a:ext cx="5926083" cy="50808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F9FE77F-4B9D-0A42-66CF-BA010AB35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3585" y="4753525"/>
            <a:ext cx="9305761" cy="666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Kilometers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driven shows a weak relationship with selling price, indicating that mileage alone does not strongly determine resale value.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59370-49A7-F7AF-4CD1-05142A8D7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6" y="1088984"/>
            <a:ext cx="4617234" cy="3297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E66D0A-71C4-3599-5390-966A02EE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308" y="957532"/>
            <a:ext cx="4812620" cy="342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E073-21BD-A5C1-4692-64314F89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A4BA4B-A202-7400-A1EC-1A649EEB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36" y="1371600"/>
            <a:ext cx="10145171" cy="225593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A8ED6AC-394D-96D3-6A96-ED42922ACA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580CBD63-EFA5-4B4C-59E9-EA7C56D6D616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E98029DA-C858-FE11-B2DA-6FE480FD3A42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088F8A0C-64FC-54E0-ED36-455451ED91E5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AE8FAEB5-8A3D-C123-C532-1165B6D7BE52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3D86C0DF-21A5-4BC9-89E0-16F1AABA0AC9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1B3A1D-3772-F30C-17A8-F2F515CEF2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6E08A5-E926-8168-2079-FF9D5BA30C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638" y="4308341"/>
            <a:ext cx="6673422" cy="61539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GitHub link : </a:t>
            </a:r>
            <a:r>
              <a:rPr lang="en-GB" sz="18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https://github.com/relhan-pinki/Car-Market-Analysis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65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665</TotalTime>
  <Words>542</Words>
  <Application>Microsoft Office PowerPoint</Application>
  <PresentationFormat>Widescreen</PresentationFormat>
  <Paragraphs>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Car Market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Pinki Relhan</cp:lastModifiedBy>
  <cp:revision>80</cp:revision>
  <dcterms:created xsi:type="dcterms:W3CDTF">2021-07-11T13:13:15Z</dcterms:created>
  <dcterms:modified xsi:type="dcterms:W3CDTF">2026-08-29T10:54:53Z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